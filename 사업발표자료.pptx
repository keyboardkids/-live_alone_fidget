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BE5347-9075-4E11-B6DA-4F5C90DDE0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392C2-8576-4F98-84F3-87BB4C9A20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848D2E-3B31-4948-977A-C2FBC4223C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244E3F-F752-4CCE-8EAF-582CF4AC2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79FA7E4-DCC5-4C22-A369-04B3B49E0E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CB27A74-BEAD-4C3D-9199-496C46098E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1B97E6C-FA05-409C-9E63-291FFA7460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7EB7028-D918-4222-B12B-52CCFFB5B6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5952B84-3696-473D-A5D4-B61C01F836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39DC013-2C92-47BE-BDF3-D614D3951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A505995-A6B7-4FB4-B51E-881D288AC5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11DADF-A66A-4E41-BEB2-7F3D76ABE2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25CDB7-BDF9-49FD-AFA5-5FBFFBF37C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1F6BEE-A2FF-474A-8E61-8E08CAF443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0C2425-3150-4C90-B0BE-7F7C4968CE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78A83F-3964-4E6E-8120-30A089607A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80D93-1A0A-4A03-A2DC-AAD7330CF4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E45B5A-8337-4A7F-AC19-CAB4C22E07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86B468-5FC8-4EAD-AD53-4FE84F061E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690CD2-BFCC-45D5-8CDF-F8EE94196F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C65022-65BF-402A-A726-40A2155A94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8A57BF-8CCC-400E-A765-ED1CF17CFA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541120" y="7282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00360" y="1712880"/>
            <a:ext cx="3959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372f41"/>
                </a:solidFill>
                <a:latin typeface="Noto Sans KR"/>
              </a:rPr>
              <a:t>대전</a:t>
            </a:r>
            <a:r>
              <a:rPr b="1" lang="en-US" sz="2500" spc="-1" strike="noStrike">
                <a:solidFill>
                  <a:srgbClr val="372f41"/>
                </a:solidFill>
                <a:latin typeface="Noto Sans KR"/>
              </a:rPr>
              <a:t> </a:t>
            </a:r>
            <a:r>
              <a:rPr b="1" lang="ko-KR" sz="3200" spc="-1" strike="noStrike">
                <a:solidFill>
                  <a:srgbClr val="372f41"/>
                </a:solidFill>
                <a:latin typeface="Noto Sans KR"/>
              </a:rPr>
              <a:t>청년</a:t>
            </a:r>
            <a:r>
              <a:rPr b="1" lang="en-US" sz="2500" spc="-1" strike="noStrike">
                <a:solidFill>
                  <a:srgbClr val="372f41"/>
                </a:solidFill>
                <a:latin typeface="Noto Sans KR"/>
              </a:rPr>
              <a:t> </a:t>
            </a:r>
            <a:r>
              <a:rPr b="1" lang="ko-KR" sz="3200" spc="-1" strike="noStrike">
                <a:solidFill>
                  <a:srgbClr val="372f41"/>
                </a:solidFill>
                <a:latin typeface="Noto Sans KR"/>
              </a:rPr>
              <a:t>정착 도움 앱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00000" y="2594880"/>
            <a:ext cx="603792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대전에서 처음 자취를 시작하는 청년들에게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자취 정보</a:t>
            </a:r>
            <a:r>
              <a:rPr b="0" lang="en-US" sz="2600" spc="-1" strike="noStrike">
                <a:solidFill>
                  <a:srgbClr val="372f41"/>
                </a:solidFill>
                <a:latin typeface="Noto Sans KR"/>
              </a:rPr>
              <a:t>, </a:t>
            </a: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정책</a:t>
            </a:r>
            <a:r>
              <a:rPr b="0" lang="en-US" sz="26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공간</a:t>
            </a:r>
            <a:r>
              <a:rPr b="0" lang="en-US" sz="26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공방</a:t>
            </a:r>
            <a:r>
              <a:rPr b="0" lang="en-US" sz="26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핫플레이스를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2600" spc="-1" strike="noStrike">
                <a:solidFill>
                  <a:srgbClr val="372f41"/>
                </a:solidFill>
                <a:latin typeface="Noto Sans KR"/>
              </a:rPr>
              <a:t>화면에 보여줍니다</a:t>
            </a:r>
            <a:r>
              <a:rPr b="0" lang="en-US" sz="2600" spc="-1" strike="noStrike">
                <a:solidFill>
                  <a:srgbClr val="372f41"/>
                </a:solidFill>
                <a:latin typeface="Noto Sans KR"/>
              </a:rPr>
              <a:t>.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400000" y="54000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080000" y="1117080"/>
            <a:ext cx="929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372f41"/>
                </a:solidFill>
                <a:latin typeface="Noto Sans KR"/>
              </a:rPr>
              <a:t>목차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080000" y="1910520"/>
            <a:ext cx="2270520" cy="45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1.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아이디어 배경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2.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차별점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3.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웰컴 키트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4.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수익 모델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5.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가치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6.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로드맵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7.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개선점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134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8.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역량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Bef>
                <a:spcPts val="1417"/>
              </a:spcBef>
            </a:pPr>
            <a:r>
              <a:rPr b="0" lang="en-US" sz="2400" spc="-1" strike="noStrike">
                <a:solidFill>
                  <a:srgbClr val="69606e"/>
                </a:solidFill>
                <a:latin typeface="Noto Sans KR"/>
              </a:rPr>
              <a:t>9. </a:t>
            </a:r>
            <a:r>
              <a:rPr b="0" lang="ko-KR" sz="2400" spc="-1" strike="noStrike">
                <a:solidFill>
                  <a:srgbClr val="69606e"/>
                </a:solidFill>
                <a:latin typeface="Noto Sans KR"/>
              </a:rPr>
              <a:t>클로징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957560" y="3960000"/>
            <a:ext cx="21013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9169dc"/>
                </a:solidFill>
                <a:latin typeface="Noto Sans KR"/>
              </a:rPr>
              <a:t>선택 아이디어</a:t>
            </a:r>
            <a:endParaRPr b="1" lang="en-US" sz="2600" spc="-1" strike="noStrike">
              <a:solidFill>
                <a:srgbClr val="9169dc"/>
              </a:solidFill>
              <a:latin typeface="Noto Sans KR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640080" y="1600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Oval 4"/>
          <p:cNvSpPr/>
          <p:nvPr/>
        </p:nvSpPr>
        <p:spPr>
          <a:xfrm>
            <a:off x="80460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88812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441080" y="1783080"/>
            <a:ext cx="2359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모든 정보를 한 페이지에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1019880" y="2258640"/>
            <a:ext cx="272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전국 단위 행사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공모전 플랫폼은 많지만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,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생활에 필요한 정보를 찾기 위한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조건 입력의 오류 불편이 있습니다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Rounded Rectangle 8"/>
          <p:cNvSpPr/>
          <p:nvPr/>
        </p:nvSpPr>
        <p:spPr>
          <a:xfrm>
            <a:off x="4343400" y="1600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Oval 9"/>
          <p:cNvSpPr/>
          <p:nvPr/>
        </p:nvSpPr>
        <p:spPr>
          <a:xfrm>
            <a:off x="450792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59144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5220000" y="1800000"/>
            <a:ext cx="169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복지 정책의 모음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4662000" y="2258640"/>
            <a:ext cx="2845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지자체 복지정책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,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청년공간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,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원데이 클래스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,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합주실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상권처럼 찾고 싶은 복지 정책이’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흩어져 있습니다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Rounded Rectangle 13"/>
          <p:cNvSpPr/>
          <p:nvPr/>
        </p:nvSpPr>
        <p:spPr>
          <a:xfrm>
            <a:off x="8046720" y="1600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Oval 14"/>
          <p:cNvSpPr/>
          <p:nvPr/>
        </p:nvSpPr>
        <p:spPr>
          <a:xfrm>
            <a:off x="821124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829476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9007920" y="1783080"/>
            <a:ext cx="2037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개인정보입력의 불편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8168400" y="2258640"/>
            <a:ext cx="3240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자격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생년월일 확인 과정에서 신분증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등본 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민감정보를 직접 제시해야 하는 불편이 있습니다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3027600" y="4680000"/>
            <a:ext cx="603792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ko-KR" sz="2500" spc="-1" strike="noStrike">
                <a:solidFill>
                  <a:srgbClr val="372f41"/>
                </a:solidFill>
                <a:latin typeface="Noto Sans KR"/>
              </a:rPr>
              <a:t>흩어져 있는 정보를 한 곳에 모은 로컬 플랫폼</a:t>
            </a:r>
            <a:endParaRPr b="0" lang="en-US" sz="2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2" name="TextBox 20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332240" y="1024200"/>
            <a:ext cx="3276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온라인 앱 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+ 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오프라인 웰컴 키트 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+ 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지역 인프라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95" name="Picture 3" descr="자취앱.png"/>
          <p:cNvPicPr/>
          <p:nvPr/>
        </p:nvPicPr>
        <p:blipFill>
          <a:blip r:embed="rId1"/>
          <a:stretch/>
        </p:blipFill>
        <p:spPr>
          <a:xfrm>
            <a:off x="640080" y="1417320"/>
            <a:ext cx="3108600" cy="3799440"/>
          </a:xfrm>
          <a:prstGeom prst="rect">
            <a:avLst/>
          </a:prstGeom>
          <a:ln w="0">
            <a:noFill/>
          </a:ln>
        </p:spPr>
      </p:pic>
      <p:sp>
        <p:nvSpPr>
          <p:cNvPr id="96" name="Rounded Rectangle 4"/>
          <p:cNvSpPr/>
          <p:nvPr/>
        </p:nvSpPr>
        <p:spPr>
          <a:xfrm>
            <a:off x="4069080" y="1417320"/>
            <a:ext cx="33372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Oval 5"/>
          <p:cNvSpPr/>
          <p:nvPr/>
        </p:nvSpPr>
        <p:spPr>
          <a:xfrm>
            <a:off x="4233600" y="158184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4317120" y="160920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5459400" y="1600200"/>
            <a:ext cx="1040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온라인 앱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4413240" y="2075760"/>
            <a:ext cx="26575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자취 정보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청년 정책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원데이 클래스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청년공간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네트워크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핫플레이스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→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첫 화면에서 바로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7635240" y="1417320"/>
            <a:ext cx="33372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Oval 10"/>
          <p:cNvSpPr/>
          <p:nvPr/>
        </p:nvSpPr>
        <p:spPr>
          <a:xfrm>
            <a:off x="7799760" y="158184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7883280" y="160920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8726400" y="1600200"/>
            <a:ext cx="1639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프라이버시 기능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7827480" y="2075760"/>
            <a:ext cx="29610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회원가입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자격 검증 시 평문 개인정보 대신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해시값 기반 확인 구조를 지향해 정보 노출을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최소화합니다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Rounded Rectangle 14"/>
          <p:cNvSpPr/>
          <p:nvPr/>
        </p:nvSpPr>
        <p:spPr>
          <a:xfrm>
            <a:off x="4069080" y="3611880"/>
            <a:ext cx="6903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Oval 15"/>
          <p:cNvSpPr/>
          <p:nvPr/>
        </p:nvSpPr>
        <p:spPr>
          <a:xfrm>
            <a:off x="4233600" y="377640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4317120" y="380376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6561360" y="3780000"/>
            <a:ext cx="1898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오프라인 웰컴 키트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4784400" y="4270320"/>
            <a:ext cx="5481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수건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가글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충전기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독서대 등 자취 필수품에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대전 지역 상인과 협력한 드립백 커피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보라색 너트 쿠키 등 로컬 굿즈를 결합합니다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4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3667320" y="1024200"/>
            <a:ext cx="4606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‘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지원 대상자용 물품’이 아니라 누구나 갖고 싶은 로컬 라이프 굿즈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14" name="Picture 3" descr="웰컴키트.png"/>
          <p:cNvPicPr/>
          <p:nvPr/>
        </p:nvPicPr>
        <p:blipFill>
          <a:blip r:embed="rId1"/>
          <a:stretch/>
        </p:blipFill>
        <p:spPr>
          <a:xfrm>
            <a:off x="3240000" y="1440000"/>
            <a:ext cx="5940000" cy="3761640"/>
          </a:xfrm>
          <a:prstGeom prst="rect">
            <a:avLst/>
          </a:prstGeom>
          <a:ln w="0">
            <a:noFill/>
          </a:ln>
        </p:spPr>
      </p:pic>
      <p:sp>
        <p:nvSpPr>
          <p:cNvPr id="115" name="TextBox 4"/>
          <p:cNvSpPr/>
          <p:nvPr/>
        </p:nvSpPr>
        <p:spPr>
          <a:xfrm>
            <a:off x="1456200" y="5440680"/>
            <a:ext cx="1110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9169dc"/>
                </a:solidFill>
                <a:latin typeface="Noto Sans KR"/>
              </a:rPr>
              <a:t>자취 필수품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5273640" y="5440680"/>
            <a:ext cx="1339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9169dc"/>
                </a:solidFill>
                <a:latin typeface="Noto Sans KR"/>
              </a:rPr>
              <a:t>지역 협업 굿즈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8775000" y="5440680"/>
            <a:ext cx="1285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500" spc="-1" strike="noStrike">
                <a:solidFill>
                  <a:srgbClr val="9169dc"/>
                </a:solidFill>
                <a:latin typeface="Noto Sans KR"/>
              </a:rPr>
              <a:t>대전의 이야기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4503960" y="5897880"/>
            <a:ext cx="3061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372f41"/>
                </a:solidFill>
                <a:latin typeface="Noto Sans KR"/>
              </a:rPr>
              <a:t>실용성 </a:t>
            </a:r>
            <a:r>
              <a:rPr b="1" lang="en-US" sz="2000" spc="-1" strike="noStrike">
                <a:solidFill>
                  <a:srgbClr val="372f41"/>
                </a:solidFill>
                <a:latin typeface="Noto Sans KR"/>
              </a:rPr>
              <a:t>× </a:t>
            </a:r>
            <a:r>
              <a:rPr b="1" lang="ko-KR" sz="2000" spc="-1" strike="noStrike">
                <a:solidFill>
                  <a:srgbClr val="372f41"/>
                </a:solidFill>
                <a:latin typeface="Noto Sans KR"/>
              </a:rPr>
              <a:t>디자인 </a:t>
            </a:r>
            <a:r>
              <a:rPr b="1" lang="en-US" sz="2000" spc="-1" strike="noStrike">
                <a:solidFill>
                  <a:srgbClr val="372f41"/>
                </a:solidFill>
                <a:latin typeface="Noto Sans KR"/>
              </a:rPr>
              <a:t>× </a:t>
            </a:r>
            <a:r>
              <a:rPr b="1" lang="ko-KR" sz="2000" spc="-1" strike="noStrike">
                <a:solidFill>
                  <a:srgbClr val="372f41"/>
                </a:solidFill>
                <a:latin typeface="Noto Sans KR"/>
              </a:rPr>
              <a:t>지역성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05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5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3943800" y="1024200"/>
            <a:ext cx="4053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정책 안내를 넘어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, 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실제 생활 경험과 구매로 연결되는 구조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2" name="Rounded Rectangle 3"/>
          <p:cNvSpPr/>
          <p:nvPr/>
        </p:nvSpPr>
        <p:spPr>
          <a:xfrm>
            <a:off x="640080" y="1508760"/>
            <a:ext cx="34743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Oval 4"/>
          <p:cNvSpPr/>
          <p:nvPr/>
        </p:nvSpPr>
        <p:spPr>
          <a:xfrm>
            <a:off x="80460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88812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1609920" y="1691640"/>
            <a:ext cx="1639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 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B2G / 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공공시장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1132920" y="2167200"/>
            <a:ext cx="2497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지자체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공공기관의 청년 정착 사업과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웰컴 키트 납품을 연계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7" name="Rounded Rectangle 8"/>
          <p:cNvSpPr/>
          <p:nvPr/>
        </p:nvSpPr>
        <p:spPr>
          <a:xfrm>
            <a:off x="4343400" y="1508760"/>
            <a:ext cx="34743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Oval 9"/>
          <p:cNvSpPr/>
          <p:nvPr/>
        </p:nvSpPr>
        <p:spPr>
          <a:xfrm>
            <a:off x="450792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459144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5760000" y="1691640"/>
            <a:ext cx="645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 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B2C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5025240" y="2167200"/>
            <a:ext cx="2119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일반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1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인 가구 청년을 대상으로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웰컴 키트 개별 판매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구독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2" name="Rounded Rectangle 13"/>
          <p:cNvSpPr/>
          <p:nvPr/>
        </p:nvSpPr>
        <p:spPr>
          <a:xfrm>
            <a:off x="8046720" y="1508760"/>
            <a:ext cx="34743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Oval 14"/>
          <p:cNvSpPr/>
          <p:nvPr/>
        </p:nvSpPr>
        <p:spPr>
          <a:xfrm>
            <a:off x="821124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829476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9000000" y="1691640"/>
            <a:ext cx="1568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로컬 광고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협찬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8244720" y="2167200"/>
            <a:ext cx="3087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앱 트래픽 확보 후 지역 공방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프리랜서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상점의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홍보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협찬 유치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1230840" y="3977640"/>
            <a:ext cx="737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9169dc"/>
                </a:solidFill>
                <a:latin typeface="Noto Sans KR"/>
              </a:rPr>
              <a:t>수익화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1404000" y="4434840"/>
            <a:ext cx="926136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ko-KR" sz="2300" spc="-1" strike="noStrike">
                <a:solidFill>
                  <a:srgbClr val="372f41"/>
                </a:solidFill>
                <a:latin typeface="Noto Sans KR"/>
              </a:rPr>
              <a:t>공공의 청년 정착 예산  소비자의 로컬 굿즈 구매 지역 사업자의 홍보 수요를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1" lang="ko-KR" sz="2300" spc="-1" strike="noStrike">
                <a:solidFill>
                  <a:srgbClr val="372f41"/>
                </a:solidFill>
                <a:latin typeface="Noto Sans KR"/>
              </a:rPr>
              <a:t>하나의 플랫폼 안에서 모아 보았습니다</a:t>
            </a:r>
            <a:r>
              <a:rPr b="1" lang="en-US" sz="2300" spc="-1" strike="noStrike">
                <a:solidFill>
                  <a:srgbClr val="372f41"/>
                </a:solidFill>
                <a:latin typeface="Noto Sans KR"/>
              </a:rPr>
              <a:t>.</a:t>
            </a:r>
            <a:endParaRPr b="0" lang="en-US" sz="2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9" name="TextBox 20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06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6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4759560" y="1024200"/>
            <a:ext cx="2428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9169dc"/>
                </a:solidFill>
                <a:latin typeface="Noto Sans KR"/>
              </a:rPr>
              <a:t>청년들의 취향이 자산화가 됩니다</a:t>
            </a:r>
            <a:endParaRPr b="0" lang="en-US" sz="1300" spc="-1" strike="noStrike">
              <a:solidFill>
                <a:srgbClr val="9169dc"/>
              </a:solidFill>
              <a:latin typeface="Noto Sans KR"/>
            </a:endParaRPr>
          </a:p>
        </p:txBody>
      </p:sp>
      <p:sp>
        <p:nvSpPr>
          <p:cNvPr id="142" name="Rounded Rectangle 3"/>
          <p:cNvSpPr/>
          <p:nvPr/>
        </p:nvSpPr>
        <p:spPr>
          <a:xfrm>
            <a:off x="640080" y="150876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Oval 4"/>
          <p:cNvSpPr/>
          <p:nvPr/>
        </p:nvSpPr>
        <p:spPr>
          <a:xfrm>
            <a:off x="80460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88812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1440000" y="1691640"/>
            <a:ext cx="137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자립준비청년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1132920" y="2167200"/>
            <a:ext cx="2497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필요한 정책을 놓치지 않도록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생활 정보와 정책을 한 화면에서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7" name="Rounded Rectangle 8"/>
          <p:cNvSpPr/>
          <p:nvPr/>
        </p:nvSpPr>
        <p:spPr>
          <a:xfrm>
            <a:off x="4343400" y="150876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Oval 9"/>
          <p:cNvSpPr/>
          <p:nvPr/>
        </p:nvSpPr>
        <p:spPr>
          <a:xfrm>
            <a:off x="450792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459144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5220000" y="1691640"/>
            <a:ext cx="142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일반 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1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인 가구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4744800" y="2167200"/>
            <a:ext cx="2680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지원 대상 여부와 관계없이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예쁜 로컬 굿즈와 생활 정보를 함께 이용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2" name="Rounded Rectangle 13"/>
          <p:cNvSpPr/>
          <p:nvPr/>
        </p:nvSpPr>
        <p:spPr>
          <a:xfrm>
            <a:off x="8046720" y="150876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Oval 14"/>
          <p:cNvSpPr/>
          <p:nvPr/>
        </p:nvSpPr>
        <p:spPr>
          <a:xfrm>
            <a:off x="821124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829476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5" name="TextBox 16"/>
          <p:cNvSpPr/>
          <p:nvPr/>
        </p:nvSpPr>
        <p:spPr>
          <a:xfrm>
            <a:off x="8871840" y="1691640"/>
            <a:ext cx="1568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지역 상인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청년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6" name="TextBox 17"/>
          <p:cNvSpPr/>
          <p:nvPr/>
        </p:nvSpPr>
        <p:spPr>
          <a:xfrm>
            <a:off x="8518320" y="2167200"/>
            <a:ext cx="2540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공방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인쇄거리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상점과 청년을 연결해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안에서 소비와 창작이 순환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3992760" y="4343400"/>
            <a:ext cx="426708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en-US" sz="3100" spc="-1" strike="noStrike">
                <a:solidFill>
                  <a:srgbClr val="9169dc"/>
                </a:solidFill>
                <a:latin typeface="Noto Sans KR"/>
              </a:rPr>
              <a:t>‘</a:t>
            </a:r>
            <a:r>
              <a:rPr b="1" lang="ko-KR" sz="3100" spc="-1" strike="noStrike">
                <a:solidFill>
                  <a:srgbClr val="9169dc"/>
                </a:solidFill>
                <a:latin typeface="Noto Sans KR"/>
              </a:rPr>
              <a:t>공모전 사이트’가 아니라</a:t>
            </a:r>
            <a:endParaRPr b="0" lang="en-US" sz="31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3100" spc="-1" strike="noStrike">
                <a:solidFill>
                  <a:srgbClr val="9169dc"/>
                </a:solidFill>
                <a:latin typeface="Noto Sans KR"/>
              </a:rPr>
              <a:t>대전 청년의 취향</a:t>
            </a:r>
            <a:endParaRPr b="0" lang="en-US" sz="3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8" name="TextBox 19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07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7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215960" y="1024200"/>
            <a:ext cx="3509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169dc"/>
                </a:solidFill>
                <a:latin typeface="Noto Sans KR"/>
              </a:rPr>
              <a:t>12</a:t>
            </a:r>
            <a:r>
              <a:rPr b="0" lang="ko-KR" sz="1300" spc="-1" strike="noStrike">
                <a:solidFill>
                  <a:srgbClr val="9169dc"/>
                </a:solidFill>
                <a:latin typeface="Noto Sans KR"/>
              </a:rPr>
              <a:t>개월 안에 </a:t>
            </a:r>
            <a:r>
              <a:rPr b="0" lang="en-US" sz="1300" spc="-1" strike="noStrike">
                <a:solidFill>
                  <a:srgbClr val="9169dc"/>
                </a:solidFill>
                <a:latin typeface="Noto Sans KR"/>
              </a:rPr>
              <a:t>MVP → PoC → </a:t>
            </a:r>
            <a:r>
              <a:rPr b="0" lang="ko-KR" sz="1300" spc="-1" strike="noStrike">
                <a:solidFill>
                  <a:srgbClr val="9169dc"/>
                </a:solidFill>
                <a:latin typeface="Noto Sans KR"/>
              </a:rPr>
              <a:t>공공시장</a:t>
            </a:r>
            <a:r>
              <a:rPr b="0" lang="en-US" sz="1300" spc="-1" strike="noStrike">
                <a:solidFill>
                  <a:srgbClr val="9169dc"/>
                </a:solidFill>
                <a:latin typeface="Noto Sans KR"/>
              </a:rPr>
              <a:t>·B2C </a:t>
            </a:r>
            <a:r>
              <a:rPr b="0" lang="ko-KR" sz="1300" spc="-1" strike="noStrike">
                <a:solidFill>
                  <a:srgbClr val="9169dc"/>
                </a:solidFill>
                <a:latin typeface="Noto Sans KR"/>
              </a:rPr>
              <a:t>확장</a:t>
            </a:r>
            <a:endParaRPr b="0" lang="en-US" sz="1300" spc="-1" strike="noStrike">
              <a:solidFill>
                <a:srgbClr val="9169dc"/>
              </a:solidFill>
              <a:latin typeface="Noto Sans KR"/>
            </a:endParaRPr>
          </a:p>
        </p:txBody>
      </p:sp>
      <p:sp>
        <p:nvSpPr>
          <p:cNvPr id="161" name="Rounded Rectangle 3"/>
          <p:cNvSpPr/>
          <p:nvPr/>
        </p:nvSpPr>
        <p:spPr>
          <a:xfrm>
            <a:off x="640080" y="1600200"/>
            <a:ext cx="3382920" cy="301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Oval 4"/>
          <p:cNvSpPr/>
          <p:nvPr/>
        </p:nvSpPr>
        <p:spPr>
          <a:xfrm>
            <a:off x="80460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88812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4" name="TextBox 6"/>
          <p:cNvSpPr/>
          <p:nvPr/>
        </p:nvSpPr>
        <p:spPr>
          <a:xfrm>
            <a:off x="1559160" y="1811160"/>
            <a:ext cx="1500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MVP &amp; 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시제품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1157400" y="2258640"/>
            <a:ext cx="2357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캐릭터 브랜딩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웰컴 키트 디자인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모바일 웹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/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앱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MVP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동구 인쇄거리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소상공인 초도 제작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6" name="TextBox 8"/>
          <p:cNvSpPr/>
          <p:nvPr/>
        </p:nvSpPr>
        <p:spPr>
          <a:xfrm>
            <a:off x="1814040" y="489204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169dc"/>
                </a:solidFill>
                <a:latin typeface="Noto Sans KR"/>
              </a:rPr>
              <a:t>1–3</a:t>
            </a:r>
            <a:r>
              <a:rPr b="1" lang="ko-KR" sz="1800" spc="-1" strike="noStrike">
                <a:solidFill>
                  <a:srgbClr val="9169dc"/>
                </a:solidFill>
                <a:latin typeface="Noto Sans KR"/>
              </a:rPr>
              <a:t>개월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7" name="Rounded Rectangle 9"/>
          <p:cNvSpPr/>
          <p:nvPr/>
        </p:nvSpPr>
        <p:spPr>
          <a:xfrm>
            <a:off x="4343400" y="1600200"/>
            <a:ext cx="3382920" cy="301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Oval 10"/>
          <p:cNvSpPr/>
          <p:nvPr/>
        </p:nvSpPr>
        <p:spPr>
          <a:xfrm>
            <a:off x="450792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459144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0" name="TextBox 12"/>
          <p:cNvSpPr/>
          <p:nvPr/>
        </p:nvSpPr>
        <p:spPr>
          <a:xfrm>
            <a:off x="5220000" y="1811160"/>
            <a:ext cx="1452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PoC &amp; 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샘플링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5070960" y="2258640"/>
            <a:ext cx="1936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공방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철공소 협업 샘플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타깃 청년 심층 피드백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B2G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파일럿 제안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5517360" y="4892040"/>
            <a:ext cx="9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169dc"/>
                </a:solidFill>
                <a:latin typeface="Noto Sans KR"/>
              </a:rPr>
              <a:t>4–6</a:t>
            </a:r>
            <a:r>
              <a:rPr b="1" lang="ko-KR" sz="1800" spc="-1" strike="noStrike">
                <a:solidFill>
                  <a:srgbClr val="9169dc"/>
                </a:solidFill>
                <a:latin typeface="Noto Sans KR"/>
              </a:rPr>
              <a:t>개월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3" name="Rounded Rectangle 15"/>
          <p:cNvSpPr/>
          <p:nvPr/>
        </p:nvSpPr>
        <p:spPr>
          <a:xfrm>
            <a:off x="8046720" y="1600200"/>
            <a:ext cx="3382920" cy="301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Oval 16"/>
          <p:cNvSpPr/>
          <p:nvPr/>
        </p:nvSpPr>
        <p:spPr>
          <a:xfrm>
            <a:off x="8211240" y="1764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8294760" y="1792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6" name="TextBox 18"/>
          <p:cNvSpPr/>
          <p:nvPr/>
        </p:nvSpPr>
        <p:spPr>
          <a:xfrm>
            <a:off x="9019800" y="1783080"/>
            <a:ext cx="124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정식 사업화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8615160" y="2258640"/>
            <a:ext cx="2254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앱 정식 출시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소모임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취업 정보 정례화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로컬 광고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협찬 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+ 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키트 판매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/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구독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8" name="TextBox 20"/>
          <p:cNvSpPr/>
          <p:nvPr/>
        </p:nvSpPr>
        <p:spPr>
          <a:xfrm>
            <a:off x="9153000" y="4892040"/>
            <a:ext cx="113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169dc"/>
                </a:solidFill>
                <a:latin typeface="Noto Sans KR"/>
              </a:rPr>
              <a:t>7–12</a:t>
            </a:r>
            <a:r>
              <a:rPr b="1" lang="ko-KR" sz="1800" spc="-1" strike="noStrike">
                <a:solidFill>
                  <a:srgbClr val="9169dc"/>
                </a:solidFill>
                <a:latin typeface="Noto Sans KR"/>
              </a:rPr>
              <a:t>개월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4454640" y="5623560"/>
            <a:ext cx="3251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372f41"/>
                </a:solidFill>
                <a:latin typeface="Noto Sans KR"/>
              </a:rPr>
              <a:t>검증 → 개선 → 계약 → 확장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0" name="TextBox 22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08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8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3470760" y="1024200"/>
            <a:ext cx="5000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‘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음식 추천 플랫폼’에서 ‘청년 정착을 돕는 구축형 로컬 플랫폼’으로 전환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1107720" y="1508760"/>
            <a:ext cx="52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9606e"/>
                </a:solidFill>
                <a:latin typeface="Noto Sans KR"/>
              </a:rPr>
              <a:t>1</a:t>
            </a:r>
            <a:r>
              <a:rPr b="1" lang="ko-KR" sz="1800" spc="-1" strike="noStrike">
                <a:solidFill>
                  <a:srgbClr val="69606e"/>
                </a:solidFill>
                <a:latin typeface="Noto Sans KR"/>
              </a:rPr>
              <a:t>차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4" name="TextBox 4"/>
          <p:cNvSpPr/>
          <p:nvPr/>
        </p:nvSpPr>
        <p:spPr>
          <a:xfrm>
            <a:off x="1353960" y="1965960"/>
            <a:ext cx="33267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기분 상태 기반 음식 추천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→ 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소비 유도 중심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6868440" y="1508760"/>
            <a:ext cx="52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169dc"/>
                </a:solidFill>
                <a:latin typeface="Noto Sans KR"/>
              </a:rPr>
              <a:t>2</a:t>
            </a:r>
            <a:r>
              <a:rPr b="1" lang="ko-KR" sz="1800" spc="-1" strike="noStrike">
                <a:solidFill>
                  <a:srgbClr val="9169dc"/>
                </a:solidFill>
                <a:latin typeface="Noto Sans KR"/>
              </a:rPr>
              <a:t>차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5941440" y="1965960"/>
            <a:ext cx="59475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대전 청년 정착 지원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→ 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공공</a:t>
            </a: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제조</a:t>
            </a: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패키징</a:t>
            </a: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문화</a:t>
            </a:r>
            <a:r>
              <a:rPr b="1" lang="en-US" sz="24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2400" spc="-1" strike="noStrike">
                <a:solidFill>
                  <a:srgbClr val="372f41"/>
                </a:solidFill>
                <a:latin typeface="Noto Sans KR"/>
              </a:rPr>
              <a:t>상생 인프라 연결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7" name="Right Arrow 7"/>
          <p:cNvSpPr/>
          <p:nvPr/>
        </p:nvSpPr>
        <p:spPr>
          <a:xfrm>
            <a:off x="4983480" y="2057400"/>
            <a:ext cx="1279800" cy="639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169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ounded Rectangle 8"/>
          <p:cNvSpPr/>
          <p:nvPr/>
        </p:nvSpPr>
        <p:spPr>
          <a:xfrm>
            <a:off x="685800" y="388620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Oval 9"/>
          <p:cNvSpPr/>
          <p:nvPr/>
        </p:nvSpPr>
        <p:spPr>
          <a:xfrm>
            <a:off x="850320" y="4050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0"/>
          <p:cNvSpPr/>
          <p:nvPr/>
        </p:nvSpPr>
        <p:spPr>
          <a:xfrm>
            <a:off x="933840" y="4078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1666440" y="4069080"/>
            <a:ext cx="580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정책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2" name="TextBox 12"/>
          <p:cNvSpPr/>
          <p:nvPr/>
        </p:nvSpPr>
        <p:spPr>
          <a:xfrm>
            <a:off x="1347840" y="4544640"/>
            <a:ext cx="741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청년공간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3" name="Rounded Rectangle 13"/>
          <p:cNvSpPr/>
          <p:nvPr/>
        </p:nvSpPr>
        <p:spPr>
          <a:xfrm>
            <a:off x="2953440" y="388620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Oval 14"/>
          <p:cNvSpPr/>
          <p:nvPr/>
        </p:nvSpPr>
        <p:spPr>
          <a:xfrm>
            <a:off x="3117960" y="4050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3201480" y="4078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6" name="TextBox 16"/>
          <p:cNvSpPr/>
          <p:nvPr/>
        </p:nvSpPr>
        <p:spPr>
          <a:xfrm>
            <a:off x="3934080" y="4069080"/>
            <a:ext cx="580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제조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7" name="TextBox 17"/>
          <p:cNvSpPr/>
          <p:nvPr/>
        </p:nvSpPr>
        <p:spPr>
          <a:xfrm>
            <a:off x="3502800" y="4544640"/>
            <a:ext cx="96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공방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철공소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8" name="Rounded Rectangle 18"/>
          <p:cNvSpPr/>
          <p:nvPr/>
        </p:nvSpPr>
        <p:spPr>
          <a:xfrm>
            <a:off x="5221080" y="388620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Oval 19"/>
          <p:cNvSpPr/>
          <p:nvPr/>
        </p:nvSpPr>
        <p:spPr>
          <a:xfrm>
            <a:off x="5385960" y="4050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20"/>
          <p:cNvSpPr/>
          <p:nvPr/>
        </p:nvSpPr>
        <p:spPr>
          <a:xfrm>
            <a:off x="5469480" y="4078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1" name="TextBox 21"/>
          <p:cNvSpPr/>
          <p:nvPr/>
        </p:nvSpPr>
        <p:spPr>
          <a:xfrm>
            <a:off x="6102000" y="4069080"/>
            <a:ext cx="780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패키징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2" name="TextBox 22"/>
          <p:cNvSpPr/>
          <p:nvPr/>
        </p:nvSpPr>
        <p:spPr>
          <a:xfrm>
            <a:off x="5721840" y="4544640"/>
            <a:ext cx="1064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동구 인쇄거리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3" name="Rounded Rectangle 23"/>
          <p:cNvSpPr/>
          <p:nvPr/>
        </p:nvSpPr>
        <p:spPr>
          <a:xfrm>
            <a:off x="7489080" y="388620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Oval 24"/>
          <p:cNvSpPr/>
          <p:nvPr/>
        </p:nvSpPr>
        <p:spPr>
          <a:xfrm>
            <a:off x="7653600" y="4050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5"/>
          <p:cNvSpPr/>
          <p:nvPr/>
        </p:nvSpPr>
        <p:spPr>
          <a:xfrm>
            <a:off x="7737120" y="4078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6" name="TextBox 26"/>
          <p:cNvSpPr/>
          <p:nvPr/>
        </p:nvSpPr>
        <p:spPr>
          <a:xfrm>
            <a:off x="8469720" y="4069080"/>
            <a:ext cx="580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문화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7" name="TextBox 27"/>
          <p:cNvSpPr/>
          <p:nvPr/>
        </p:nvSpPr>
        <p:spPr>
          <a:xfrm>
            <a:off x="7716240" y="4544640"/>
            <a:ext cx="161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철길마을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원동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락공소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8" name="Rounded Rectangle 28"/>
          <p:cNvSpPr/>
          <p:nvPr/>
        </p:nvSpPr>
        <p:spPr>
          <a:xfrm>
            <a:off x="9756720" y="388620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Oval 29"/>
          <p:cNvSpPr/>
          <p:nvPr/>
        </p:nvSpPr>
        <p:spPr>
          <a:xfrm>
            <a:off x="9921240" y="405072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30"/>
          <p:cNvSpPr/>
          <p:nvPr/>
        </p:nvSpPr>
        <p:spPr>
          <a:xfrm>
            <a:off x="10004760" y="407808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1" name="TextBox 31"/>
          <p:cNvSpPr/>
          <p:nvPr/>
        </p:nvSpPr>
        <p:spPr>
          <a:xfrm>
            <a:off x="10737360" y="4069080"/>
            <a:ext cx="580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상생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2" name="TextBox 32"/>
          <p:cNvSpPr/>
          <p:nvPr/>
        </p:nvSpPr>
        <p:spPr>
          <a:xfrm>
            <a:off x="10214640" y="4544640"/>
            <a:ext cx="1150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청년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상점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3" name="TextBox 33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09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/>
          <p:nvPr/>
        </p:nvSpPr>
        <p:spPr>
          <a:xfrm>
            <a:off x="5880960" y="411480"/>
            <a:ext cx="3988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9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3144600" y="1024200"/>
            <a:ext cx="5652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아이디어를 ‘정보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데이터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300" spc="-1" strike="noStrike">
                <a:solidFill>
                  <a:srgbClr val="69606e"/>
                </a:solidFill>
                <a:latin typeface="Noto Sans KR"/>
              </a:rPr>
              <a:t>콘텐츠’로 구조화하고 실제 서비스로 옮길 수 있습니다</a:t>
            </a:r>
            <a:r>
              <a:rPr b="0" lang="en-US" sz="1300" spc="-1" strike="noStrike">
                <a:solidFill>
                  <a:srgbClr val="69606e"/>
                </a:solidFill>
                <a:latin typeface="Noto Sans KR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6" name="Rounded Rectangle 3"/>
          <p:cNvSpPr/>
          <p:nvPr/>
        </p:nvSpPr>
        <p:spPr>
          <a:xfrm>
            <a:off x="640080" y="1508760"/>
            <a:ext cx="347436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Oval 4"/>
          <p:cNvSpPr/>
          <p:nvPr/>
        </p:nvSpPr>
        <p:spPr>
          <a:xfrm>
            <a:off x="80460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88812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1865880" y="1691640"/>
            <a:ext cx="1506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보안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개인정보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789480" y="2167200"/>
            <a:ext cx="31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보안이 접목된 시민 치매 문화팀 프로젝트 경험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온라인 자료 제작 및 정보 보호 관점의 문제 정의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1" name="Rounded Rectangle 8"/>
          <p:cNvSpPr/>
          <p:nvPr/>
        </p:nvSpPr>
        <p:spPr>
          <a:xfrm>
            <a:off x="4343400" y="1508760"/>
            <a:ext cx="347436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Oval 9"/>
          <p:cNvSpPr/>
          <p:nvPr/>
        </p:nvSpPr>
        <p:spPr>
          <a:xfrm>
            <a:off x="450792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10"/>
          <p:cNvSpPr/>
          <p:nvPr/>
        </p:nvSpPr>
        <p:spPr>
          <a:xfrm>
            <a:off x="459144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5469480" y="1691640"/>
            <a:ext cx="170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데이터</a:t>
            </a:r>
            <a:r>
              <a:rPr b="1" lang="en-US" sz="1700" spc="-1" strike="noStrike">
                <a:solidFill>
                  <a:srgbClr val="372f41"/>
                </a:solidFill>
                <a:latin typeface="Noto Sans KR"/>
              </a:rPr>
              <a:t>·</a:t>
            </a: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요구사항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5" name="TextBox 12"/>
          <p:cNvSpPr/>
          <p:nvPr/>
        </p:nvSpPr>
        <p:spPr>
          <a:xfrm>
            <a:off x="4395240" y="2167200"/>
            <a:ext cx="3380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정보 데이터 보호와 요구사항 조사 역량을 바탕으로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사용자에게 필요한 정보를 구조화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6" name="Rounded Rectangle 13"/>
          <p:cNvSpPr/>
          <p:nvPr/>
        </p:nvSpPr>
        <p:spPr>
          <a:xfrm>
            <a:off x="8046720" y="1508760"/>
            <a:ext cx="347436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d9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Oval 14"/>
          <p:cNvSpPr/>
          <p:nvPr/>
        </p:nvSpPr>
        <p:spPr>
          <a:xfrm>
            <a:off x="8211240" y="1673280"/>
            <a:ext cx="438480" cy="438480"/>
          </a:xfrm>
          <a:prstGeom prst="ellipse">
            <a:avLst/>
          </a:prstGeom>
          <a:solidFill>
            <a:srgbClr val="e2d8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15"/>
          <p:cNvSpPr/>
          <p:nvPr/>
        </p:nvSpPr>
        <p:spPr>
          <a:xfrm>
            <a:off x="8294760" y="1700640"/>
            <a:ext cx="27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169dc"/>
                </a:solidFill>
                <a:latin typeface="Noto Sans KR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9175680" y="1691640"/>
            <a:ext cx="170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372f41"/>
                </a:solidFill>
                <a:latin typeface="Noto Sans KR"/>
              </a:rPr>
              <a:t>지역 협업형 기획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0" name="TextBox 17"/>
          <p:cNvSpPr/>
          <p:nvPr/>
        </p:nvSpPr>
        <p:spPr>
          <a:xfrm>
            <a:off x="8125920" y="2167200"/>
            <a:ext cx="3324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공공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지역 상인</a:t>
            </a:r>
            <a:r>
              <a:rPr b="0" lang="en-US" sz="1200" spc="-1" strike="noStrike">
                <a:solidFill>
                  <a:srgbClr val="69606e"/>
                </a:solidFill>
                <a:latin typeface="Noto Sans KR"/>
              </a:rPr>
              <a:t>·</a:t>
            </a: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청년을 연결하는 구조를 설계하고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69606e"/>
                </a:solidFill>
                <a:latin typeface="Noto Sans KR"/>
              </a:rPr>
              <a:t>앱과 실물 굿즈를 하나의 경험으로 묶음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1" name="TextBox 18"/>
          <p:cNvSpPr/>
          <p:nvPr/>
        </p:nvSpPr>
        <p:spPr>
          <a:xfrm>
            <a:off x="2782080" y="4480560"/>
            <a:ext cx="6597000" cy="9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1" lang="ko-KR" sz="2900" spc="-1" strike="noStrike">
                <a:solidFill>
                  <a:srgbClr val="9169dc"/>
                </a:solidFill>
                <a:latin typeface="Noto Sans KR"/>
              </a:rPr>
              <a:t>자립에 필요한 내용을 모아 시간을 빠르고</a:t>
            </a: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,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2900" spc="-1" strike="noStrike">
                <a:solidFill>
                  <a:srgbClr val="9169dc"/>
                </a:solidFill>
                <a:latin typeface="Noto Sans KR"/>
              </a:rPr>
              <a:t>대전에서 사는 경험을 자산으로 만듭니다</a:t>
            </a:r>
            <a:r>
              <a:rPr b="1" lang="en-US" sz="2900" spc="-1" strike="noStrike">
                <a:solidFill>
                  <a:srgbClr val="9169dc"/>
                </a:solidFill>
                <a:latin typeface="Noto Sans KR"/>
              </a:rPr>
              <a:t>.</a:t>
            </a:r>
            <a:endParaRPr b="0" lang="en-US" sz="2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2" name="TextBox 19"/>
          <p:cNvSpPr/>
          <p:nvPr/>
        </p:nvSpPr>
        <p:spPr>
          <a:xfrm>
            <a:off x="11196000" y="6419160"/>
            <a:ext cx="330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9606e"/>
                </a:solidFill>
                <a:latin typeface="Noto Sans KR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2026-08-25T20:48:17Z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